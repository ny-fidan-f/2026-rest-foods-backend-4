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4"/>
  </p:sldMasterIdLst>
  <p:notesMasterIdLst>
    <p:notesMasterId r:id="rId20"/>
  </p:notesMasterIdLst>
  <p:handoutMasterIdLst>
    <p:handoutMasterId r:id="rId21"/>
  </p:handoutMasterIdLst>
  <p:sldIdLst>
    <p:sldId id="256" r:id="rId5"/>
    <p:sldId id="257" r:id="rId6"/>
    <p:sldId id="260" r:id="rId7"/>
    <p:sldId id="259" r:id="rId8"/>
    <p:sldId id="272" r:id="rId9"/>
    <p:sldId id="273" r:id="rId10"/>
    <p:sldId id="267" r:id="rId11"/>
    <p:sldId id="261" r:id="rId12"/>
    <p:sldId id="262" r:id="rId13"/>
    <p:sldId id="264" r:id="rId14"/>
    <p:sldId id="263" r:id="rId15"/>
    <p:sldId id="269" r:id="rId16"/>
    <p:sldId id="268" r:id="rId17"/>
    <p:sldId id="270" r:id="rId18"/>
    <p:sldId id="271" r:id="rId19"/>
  </p:sldIdLst>
  <p:sldSz cx="12192000" cy="6858000"/>
  <p:notesSz cx="6858000" cy="9144000"/>
  <p:defaultTextStyle>
    <a:defPPr rtl="0"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237424-0FB0-4B9E-B137-635B4D33A4DD}" v="740" dt="2026-06-12T11:48:36.623"/>
    <p1510:client id="{9D9296E6-82AC-F30A-371F-1D6771637697}" v="9" dt="2026-06-11T14:27:00.869"/>
    <p1510:client id="{EDAFEC2A-DE98-492F-9FB9-A260242C289D}" v="72" dt="2026-06-12T11:48:53.293"/>
    <p1510:client id="{F046C5A1-D0ED-44B6-884D-90CE709B631A}" v="702" dt="2026-06-12T11:27:04.9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21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1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632A2767-FEC0-45D8-A250-3A0CECEC10E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3D87BEA-720A-4B01-983C-6493C00177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29F12B8-C969-4278-8161-C3382615230D}" type="datetime1">
              <a:rPr lang="de-DE" smtClean="0"/>
              <a:t>11.06.2026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D7F7142-7B6D-4E82-A762-17951F13958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7AA5D6A-4E5C-4EA7-A13B-15A02BB533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88A98BC-2DB8-47A3-A77F-B9E32C26623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568433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de-DE" noProof="1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DD0E533-1DB5-41AA-91E3-4CCD1DBAD425}" type="datetime1">
              <a:rPr lang="de-DE" noProof="1" dirty="0" smtClean="0"/>
              <a:t>11.06.2026</a:t>
            </a:fld>
            <a:endParaRPr lang="de-DE" noProof="1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de-DE" noProof="1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-DE" noProof="1"/>
              <a:t>Textmasterformat durch Klicken bearbeiten</a:t>
            </a:r>
          </a:p>
          <a:p>
            <a:pPr lvl="1" rtl="0"/>
            <a:r>
              <a:rPr lang="de-DE" noProof="1"/>
              <a:t>Zweite Ebene</a:t>
            </a:r>
          </a:p>
          <a:p>
            <a:pPr lvl="2" rtl="0"/>
            <a:r>
              <a:rPr lang="de-DE" noProof="1"/>
              <a:t>Dritte Ebene</a:t>
            </a:r>
          </a:p>
          <a:p>
            <a:pPr lvl="3" rtl="0"/>
            <a:r>
              <a:rPr lang="de-DE" noProof="1"/>
              <a:t>Vierte Ebene</a:t>
            </a:r>
          </a:p>
          <a:p>
            <a:pPr lvl="4" rtl="0"/>
            <a:r>
              <a:rPr lang="de-DE" noProof="1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de-DE" noProof="1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9BB1A04-13E8-48CD-97F9-AC2568E1A8D4}" type="slidenum">
              <a:rPr lang="de-DE" noProof="1" dirty="0" smtClean="0"/>
              <a:t>‹#›</a:t>
            </a:fld>
            <a:endParaRPr lang="de-DE" noProof="1"/>
          </a:p>
        </p:txBody>
      </p:sp>
    </p:spTree>
    <p:extLst>
      <p:ext uri="{BB962C8B-B14F-4D97-AF65-F5344CB8AC3E}">
        <p14:creationId xmlns:p14="http://schemas.microsoft.com/office/powerpoint/2010/main" val="257699969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69BB1A04-13E8-48CD-97F9-AC2568E1A8D4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43052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69BB1A04-13E8-48CD-97F9-AC2568E1A8D4}" type="slidenum">
              <a:rPr lang="de-DE" noProof="1" smtClean="0"/>
              <a:t>12</a:t>
            </a:fld>
            <a:endParaRPr lang="de-DE" noProof="1"/>
          </a:p>
        </p:txBody>
      </p:sp>
    </p:spTree>
    <p:extLst>
      <p:ext uri="{BB962C8B-B14F-4D97-AF65-F5344CB8AC3E}">
        <p14:creationId xmlns:p14="http://schemas.microsoft.com/office/powerpoint/2010/main" val="2434521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Bild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 cstate="email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uppieren 10" hidden="1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de-CH"/>
            </a:p>
          </p:txBody>
        </p:sp>
      </p:grp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1876424" y="1122363"/>
            <a:ext cx="8791575" cy="2387600"/>
          </a:xfrm>
        </p:spPr>
        <p:txBody>
          <a:bodyPr rtlCol="0" anchor="b">
            <a:normAutofit/>
          </a:bodyPr>
          <a:lstStyle>
            <a:lvl1pPr algn="l">
              <a:defRPr sz="48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876424" y="3602038"/>
            <a:ext cx="8791575" cy="1655762"/>
          </a:xfrm>
        </p:spPr>
        <p:txBody>
          <a:bodyPr rtlCol="0"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 rtlCol="0"/>
          <a:lstStyle/>
          <a:p>
            <a:pPr rtl="0"/>
            <a:fld id="{36D083D4-F3F5-4482-AD94-708CF97E75E0}" type="datetime1">
              <a:rPr lang="de-DE" noProof="0" smtClean="0"/>
              <a:t>12.06.2026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658416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7B6F7C1-959E-41CA-A573-4D713FF5B618}" type="datetime1">
              <a:rPr lang="de-DE" noProof="0" smtClean="0"/>
              <a:t>11.06.2026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497360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141411" y="1419226"/>
            <a:ext cx="9906000" cy="2852737"/>
          </a:xfrm>
        </p:spPr>
        <p:txBody>
          <a:bodyPr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1141411" y="4424362"/>
            <a:ext cx="9906000" cy="1374776"/>
          </a:xfrm>
        </p:spPr>
        <p:txBody>
          <a:bodyPr rtlCol="0"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1F43C67-F771-49C3-9E66-4DDE823EF25B}" type="datetime1">
              <a:rPr lang="de-DE" noProof="0" smtClean="0"/>
              <a:t>11.06.2026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522801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1141410" y="2249486"/>
            <a:ext cx="4878389" cy="3541714"/>
          </a:xfrm>
        </p:spPr>
        <p:txBody>
          <a:bodyPr rtlCol="0"/>
          <a:lstStyle/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172200" y="2249486"/>
            <a:ext cx="4875211" cy="3541714"/>
          </a:xfrm>
        </p:spPr>
        <p:txBody>
          <a:bodyPr rtlCol="0"/>
          <a:lstStyle/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AFB8C4E-53E5-4C69-A70B-1697E5838380}" type="datetime1">
              <a:rPr lang="de-DE" noProof="0" smtClean="0"/>
              <a:t>11.06.2026</a:t>
            </a:fld>
            <a:endParaRPr lang="de-DE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214335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141411" y="619126"/>
            <a:ext cx="9906000" cy="1477961"/>
          </a:xfrm>
        </p:spPr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1370019" y="2249486"/>
            <a:ext cx="4649783" cy="823912"/>
          </a:xfrm>
        </p:spPr>
        <p:txBody>
          <a:bodyPr rtlCol="0"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1141410" y="3073397"/>
            <a:ext cx="4878391" cy="2717801"/>
          </a:xfrm>
        </p:spPr>
        <p:txBody>
          <a:bodyPr rtlCol="0"/>
          <a:lstStyle/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 hasCustomPrompt="1"/>
          </p:nvPr>
        </p:nvSpPr>
        <p:spPr>
          <a:xfrm>
            <a:off x="6400808" y="2249485"/>
            <a:ext cx="4646602" cy="823912"/>
          </a:xfrm>
        </p:spPr>
        <p:txBody>
          <a:bodyPr rtlCol="0"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 hasCustomPrompt="1"/>
          </p:nvPr>
        </p:nvSpPr>
        <p:spPr>
          <a:xfrm>
            <a:off x="6172200" y="3073397"/>
            <a:ext cx="4875210" cy="2717801"/>
          </a:xfrm>
        </p:spPr>
        <p:txBody>
          <a:bodyPr rtlCol="0"/>
          <a:lstStyle/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CD19273-BFBF-40D0-8072-88B04C8386C4}" type="datetime1">
              <a:rPr lang="de-DE" noProof="0" smtClean="0"/>
              <a:t>11.06.2026</a:t>
            </a:fld>
            <a:endParaRPr lang="de-DE" noProof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846593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DAD061F-FCB6-44F8-ACE0-20401C95D0B4}" type="datetime1">
              <a:rPr lang="de-DE" noProof="0" smtClean="0"/>
              <a:t>11.06.2026</a:t>
            </a:fld>
            <a:endParaRPr lang="de-DE" noProof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876122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4970CA5-03F4-443D-81C8-78CF3D8BE54F}" type="datetime1">
              <a:rPr lang="de-DE" noProof="0" smtClean="0"/>
              <a:t>11.06.2026</a:t>
            </a:fld>
            <a:endParaRPr lang="de-DE" noProof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996950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146705" y="609601"/>
            <a:ext cx="3856037" cy="1639884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5156200" y="592666"/>
            <a:ext cx="5891209" cy="5198534"/>
          </a:xfrm>
        </p:spPr>
        <p:txBody>
          <a:bodyPr rtlCol="0" anchor="ctr"/>
          <a:lstStyle/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1146705" y="2249486"/>
            <a:ext cx="3856037" cy="354171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BFF7000-E7F9-4C7D-A407-9BCDF842397E}" type="datetime1">
              <a:rPr lang="de-DE" noProof="0" smtClean="0"/>
              <a:t>11.06.2026</a:t>
            </a:fld>
            <a:endParaRPr lang="de-DE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061360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141413" y="609600"/>
            <a:ext cx="5934508" cy="1639886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de-DE" noProof="0"/>
              <a:t>Klicken Sie, um ein Bild hinzuzufügen.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1141410" y="2249486"/>
            <a:ext cx="5934511" cy="354171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C3BC7C9-8B49-4EF3-A900-B3AA3887E6F0}" type="datetime1">
              <a:rPr lang="de-DE" noProof="0" smtClean="0"/>
              <a:t>11.06.2026</a:t>
            </a:fld>
            <a:endParaRPr lang="de-DE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109866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141410" y="4304664"/>
            <a:ext cx="9912355" cy="819355"/>
          </a:xfrm>
        </p:spPr>
        <p:txBody>
          <a:bodyPr rtlCol="0" anchor="b">
            <a:normAutofit/>
          </a:bodyPr>
          <a:lstStyle>
            <a:lvl1pPr>
              <a:defRPr sz="32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 rtl="0">
              <a:buNone/>
            </a:pPr>
            <a:r>
              <a:rPr lang="de-DE" noProof="0"/>
              <a:t>Klicken Sie, um ein Bild hinzuzufügen.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5124020"/>
            <a:ext cx="9910859" cy="682472"/>
          </a:xfrm>
        </p:spPr>
        <p:txBody>
          <a:bodyPr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30FEDF7-D2A3-41C3-8267-8D019A716B40}" type="datetime1">
              <a:rPr lang="de-DE" noProof="0" smtClean="0"/>
              <a:t>11.06.2026</a:t>
            </a:fld>
            <a:endParaRPr lang="de-DE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129196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141456" y="609600"/>
            <a:ext cx="9905955" cy="3429000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1141410" y="4419599"/>
            <a:ext cx="9904459" cy="1371599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41F5794-97A2-471A-A7D1-4459287BB91C}" type="datetime1">
              <a:rPr lang="de-DE" noProof="0" smtClean="0"/>
              <a:t>11.06.2026</a:t>
            </a:fld>
            <a:endParaRPr lang="de-DE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1172563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446212" y="609599"/>
            <a:ext cx="9302752" cy="2748429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12" name="Textplatzhalter 3"/>
          <p:cNvSpPr>
            <a:spLocks noGrp="1"/>
          </p:cNvSpPr>
          <p:nvPr>
            <p:ph type="body" sz="half" idx="13" hasCustomPrompt="1"/>
          </p:nvPr>
        </p:nvSpPr>
        <p:spPr>
          <a:xfrm>
            <a:off x="1720644" y="3365557"/>
            <a:ext cx="8752299" cy="54896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1141411" y="4309919"/>
            <a:ext cx="9906002" cy="1489496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4A8DDE8-A462-40F3-9D09-BA0059B3E96E}" type="datetime1">
              <a:rPr lang="de-DE" noProof="0" smtClean="0"/>
              <a:t>11.06.2026</a:t>
            </a:fld>
            <a:endParaRPr lang="de-DE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‹#›</a:t>
            </a:fld>
            <a:endParaRPr lang="de-DE" noProof="0"/>
          </a:p>
        </p:txBody>
      </p:sp>
      <p:sp>
        <p:nvSpPr>
          <p:cNvPr id="60" name="Textfeld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de-DE" sz="8000" noProof="0">
                <a:solidFill>
                  <a:schemeClr val="tx1"/>
                </a:solidFill>
                <a:effectLst/>
              </a:rPr>
              <a:t>"</a:t>
            </a:r>
          </a:p>
        </p:txBody>
      </p:sp>
      <p:sp>
        <p:nvSpPr>
          <p:cNvPr id="61" name="Textfeld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de-DE" sz="8000" noProof="0">
                <a:solidFill>
                  <a:schemeClr val="tx1"/>
                </a:solidFill>
                <a:effectLst/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29022410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isiten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141410" y="2134041"/>
            <a:ext cx="9906001" cy="2511835"/>
          </a:xfrm>
        </p:spPr>
        <p:txBody>
          <a:bodyPr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4657655"/>
            <a:ext cx="9904505" cy="1140644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28A21C0-3128-4853-AA21-B2DF92E062B6}" type="datetime1">
              <a:rPr lang="de-DE" noProof="0" smtClean="0"/>
              <a:t>11.06.2026</a:t>
            </a:fld>
            <a:endParaRPr lang="de-DE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7473892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-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el 1"/>
          <p:cNvSpPr>
            <a:spLocks noGrp="1"/>
          </p:cNvSpPr>
          <p:nvPr>
            <p:ph type="title" hasCustomPrompt="1"/>
          </p:nvPr>
        </p:nvSpPr>
        <p:spPr>
          <a:xfrm>
            <a:off x="1141413" y="609600"/>
            <a:ext cx="9905998" cy="1905000"/>
          </a:xfrm>
        </p:spPr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7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1141410" y="2674463"/>
            <a:ext cx="3196899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8" name="Textplatzhalter 3"/>
          <p:cNvSpPr>
            <a:spLocks noGrp="1"/>
          </p:cNvSpPr>
          <p:nvPr>
            <p:ph type="body" sz="half" idx="15" hasCustomPrompt="1"/>
          </p:nvPr>
        </p:nvSpPr>
        <p:spPr>
          <a:xfrm>
            <a:off x="1127918" y="3360263"/>
            <a:ext cx="3208735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9" name="Textplatzhalter 4"/>
          <p:cNvSpPr>
            <a:spLocks noGrp="1"/>
          </p:cNvSpPr>
          <p:nvPr>
            <p:ph type="body" sz="quarter" idx="3" hasCustomPrompt="1"/>
          </p:nvPr>
        </p:nvSpPr>
        <p:spPr>
          <a:xfrm>
            <a:off x="4514766" y="2677635"/>
            <a:ext cx="3184385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10" name="Textplatzhalter 3"/>
          <p:cNvSpPr>
            <a:spLocks noGrp="1"/>
          </p:cNvSpPr>
          <p:nvPr>
            <p:ph type="body" sz="half" idx="16" hasCustomPrompt="1"/>
          </p:nvPr>
        </p:nvSpPr>
        <p:spPr>
          <a:xfrm>
            <a:off x="4504213" y="3363435"/>
            <a:ext cx="3195830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11" name="Textplatzhalter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442" y="2674463"/>
            <a:ext cx="3194968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12" name="Textplatzhalter 3"/>
          <p:cNvSpPr>
            <a:spLocks noGrp="1"/>
          </p:cNvSpPr>
          <p:nvPr>
            <p:ph type="body" sz="half" idx="17" hasCustomPrompt="1"/>
          </p:nvPr>
        </p:nvSpPr>
        <p:spPr>
          <a:xfrm>
            <a:off x="7852442" y="3360263"/>
            <a:ext cx="3194968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009B805-3C05-4172-8912-F1001182EDEB}" type="datetime1">
              <a:rPr lang="de-DE" noProof="0" smtClean="0"/>
              <a:t>11.06.2026</a:t>
            </a:fld>
            <a:endParaRPr lang="de-DE" noProof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42022440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Bild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el 1"/>
          <p:cNvSpPr>
            <a:spLocks noGrp="1"/>
          </p:cNvSpPr>
          <p:nvPr>
            <p:ph type="title" hasCustomPrompt="1"/>
          </p:nvPr>
        </p:nvSpPr>
        <p:spPr>
          <a:xfrm>
            <a:off x="1141411" y="609600"/>
            <a:ext cx="9905999" cy="1905000"/>
          </a:xfrm>
        </p:spPr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19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1141413" y="4404596"/>
            <a:ext cx="3195240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20" name="Bildplatzhalter 2"/>
          <p:cNvSpPr>
            <a:spLocks noGrp="1" noChangeAspect="1"/>
          </p:cNvSpPr>
          <p:nvPr>
            <p:ph type="pic" idx="15" hasCustomPrompt="1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de-DE" noProof="0"/>
              <a:t>Klicken Sie, um ein Bild hinzuzufügen.</a:t>
            </a:r>
          </a:p>
        </p:txBody>
      </p:sp>
      <p:sp>
        <p:nvSpPr>
          <p:cNvPr id="21" name="Textplatzhalter 3"/>
          <p:cNvSpPr>
            <a:spLocks noGrp="1"/>
          </p:cNvSpPr>
          <p:nvPr>
            <p:ph type="body" sz="half" idx="18" hasCustomPrompt="1"/>
          </p:nvPr>
        </p:nvSpPr>
        <p:spPr>
          <a:xfrm>
            <a:off x="1141413" y="4980858"/>
            <a:ext cx="3195240" cy="817843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22" name="Textplatzhalter 4"/>
          <p:cNvSpPr>
            <a:spLocks noGrp="1"/>
          </p:cNvSpPr>
          <p:nvPr>
            <p:ph type="body" sz="quarter" idx="3" hasCustomPrompt="1"/>
          </p:nvPr>
        </p:nvSpPr>
        <p:spPr>
          <a:xfrm>
            <a:off x="4489053" y="4404596"/>
            <a:ext cx="3200400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23" name="Bildplatzhalter 2"/>
          <p:cNvSpPr>
            <a:spLocks noGrp="1" noChangeAspect="1"/>
          </p:cNvSpPr>
          <p:nvPr>
            <p:ph type="pic" idx="21" hasCustomPrompt="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de-DE" noProof="0"/>
              <a:t>Klicken Sie, um ein Bild hinzuzufügen.</a:t>
            </a:r>
          </a:p>
        </p:txBody>
      </p:sp>
      <p:sp>
        <p:nvSpPr>
          <p:cNvPr id="24" name="Textplatzhalter 3"/>
          <p:cNvSpPr>
            <a:spLocks noGrp="1"/>
          </p:cNvSpPr>
          <p:nvPr>
            <p:ph type="body" sz="half" idx="19" hasCustomPrompt="1"/>
          </p:nvPr>
        </p:nvSpPr>
        <p:spPr>
          <a:xfrm>
            <a:off x="4487593" y="4980857"/>
            <a:ext cx="3200400" cy="81034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25" name="Textplatzhalter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567" y="4404595"/>
            <a:ext cx="3190741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26" name="Bildplatzhalter 2"/>
          <p:cNvSpPr>
            <a:spLocks noGrp="1" noChangeAspect="1"/>
          </p:cNvSpPr>
          <p:nvPr>
            <p:ph type="pic" idx="22" hasCustomPrompt="1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de-DE" noProof="0"/>
              <a:t>Klicken Sie, um ein Bild hinzuzufügen.</a:t>
            </a:r>
          </a:p>
        </p:txBody>
      </p:sp>
      <p:sp>
        <p:nvSpPr>
          <p:cNvPr id="27" name="Textplatzhalter 3"/>
          <p:cNvSpPr>
            <a:spLocks noGrp="1"/>
          </p:cNvSpPr>
          <p:nvPr>
            <p:ph type="body" sz="half" idx="20" hasCustomPrompt="1"/>
          </p:nvPr>
        </p:nvSpPr>
        <p:spPr>
          <a:xfrm>
            <a:off x="7852442" y="4980854"/>
            <a:ext cx="3194968" cy="810345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5879E03-080B-41E6-99A0-7AF86376CEA4}" type="datetime1">
              <a:rPr lang="de-DE" noProof="0" smtClean="0"/>
              <a:t>11.06.2026</a:t>
            </a:fld>
            <a:endParaRPr lang="de-DE" noProof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0145445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/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4A2F5F3-5304-4865-A726-6DBD64DE4482}" type="datetime1">
              <a:rPr lang="de-DE" noProof="0" smtClean="0"/>
              <a:t>11.06.2026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5906166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 hasCustomPrompt="1"/>
          </p:nvPr>
        </p:nvSpPr>
        <p:spPr>
          <a:xfrm>
            <a:off x="9042400" y="609599"/>
            <a:ext cx="2005011" cy="5181601"/>
          </a:xfrm>
        </p:spPr>
        <p:txBody>
          <a:bodyPr vert="eaVert" rtlCol="0"/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 hasCustomPrompt="1"/>
          </p:nvPr>
        </p:nvSpPr>
        <p:spPr>
          <a:xfrm>
            <a:off x="1141410" y="609599"/>
            <a:ext cx="7748590" cy="5181601"/>
          </a:xfrm>
        </p:spPr>
        <p:txBody>
          <a:bodyPr vert="eaVert" rtlCol="0"/>
          <a:lstStyle/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C3F7872-2894-459F-83E5-19E7D2D4E17D}" type="datetime1">
              <a:rPr lang="de-DE" noProof="0" smtClean="0"/>
              <a:t>11.06.2026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160474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ild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 cstate="email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uppieren 7" hidden="1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uppieren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</p:grpSp>
        <p:grpSp>
          <p:nvGrpSpPr>
            <p:cNvPr id="10" name="Gruppieren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de-CH"/>
              </a:p>
            </p:txBody>
          </p:sp>
        </p:grpSp>
      </p:grp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endParaRPr lang="de-DE" noProof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35CFA06-5E0C-4155-8D57-F34EBDF1635A}" type="datetime1">
              <a:rPr lang="de-DE" noProof="0" smtClean="0"/>
              <a:t>12.06.2026</a:t>
            </a:fld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de-DE" noProof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6D22F896-40B5-4ADD-8801-0D06FADFA095}" type="slidenum">
              <a:rPr lang="de-DE" noProof="0" smtClean="0"/>
              <a:pPr rtl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1918522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788D5DFD-FA42-4EB0-B24E-4180C0CC5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11" name="Rechteck 10">
              <a:extLst>
                <a:ext uri="{FF2B5EF4-FFF2-40B4-BE49-F238E27FC236}">
                  <a16:creationId xmlns:a16="http://schemas.microsoft.com/office/drawing/2014/main" id="{CC864817-5955-484B-9D1F-9BC8DB7398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/>
            </a:p>
          </p:txBody>
        </p:sp>
        <p:pic>
          <p:nvPicPr>
            <p:cNvPr id="12" name="Bild 2">
              <a:extLst>
                <a:ext uri="{FF2B5EF4-FFF2-40B4-BE49-F238E27FC236}">
                  <a16:creationId xmlns:a16="http://schemas.microsoft.com/office/drawing/2014/main" id="{280C083F-71A6-4E55-AE35-586518FE29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 cstate="email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="" xmlns:p14="http://schemas.microsoft.com/office/powerpoint/2010/main" xmlns:a16="http://schemas.microsoft.com/office/drawing/2014/main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" name="Grafik 5" descr="The image depicts a cozy, well-lit, and elegantly decorated dining room with high ceilings, wooden panels, and a large window with an open kitchen visible.&#10;&#10;KI-generierte Inhalte können fehlerhaft sein.">
            <a:extLst>
              <a:ext uri="{FF2B5EF4-FFF2-40B4-BE49-F238E27FC236}">
                <a16:creationId xmlns:a16="http://schemas.microsoft.com/office/drawing/2014/main" id="{DD2882DA-5FF7-9909-291E-9AC7895E8A5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3000"/>
          </a:blip>
          <a:stretch>
            <a:fillRect/>
          </a:stretch>
        </p:blipFill>
        <p:spPr>
          <a:xfrm>
            <a:off x="-4" y="5821"/>
            <a:ext cx="12191999" cy="6857999"/>
          </a:xfrm>
          <a:prstGeom prst="rect">
            <a:avLst/>
          </a:prstGeom>
          <a:effectLst>
            <a:glow rad="127000">
              <a:schemeClr val="accent1">
                <a:alpha val="0"/>
              </a:schemeClr>
            </a:glow>
            <a:outerShdw blurRad="50800" dist="50800" dir="5400000" algn="ctr" rotWithShape="0">
              <a:srgbClr val="000000"/>
            </a:outerShdw>
          </a:effectLst>
        </p:spPr>
      </p:pic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D44056DF-7985-4692-968A-466E9E6AF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235200"/>
            <a:ext cx="10982062" cy="2396067"/>
            <a:chOff x="605895" y="2235200"/>
            <a:chExt cx="10982062" cy="2396067"/>
          </a:xfrm>
        </p:grpSpPr>
        <p:sp>
          <p:nvSpPr>
            <p:cNvPr id="15" name="Rechteck mit abgerundeten diagonal liegenden Ecken 7">
              <a:extLst>
                <a:ext uri="{FF2B5EF4-FFF2-40B4-BE49-F238E27FC236}">
                  <a16:creationId xmlns:a16="http://schemas.microsoft.com/office/drawing/2014/main" id="{B414A174-532A-4602-934F-9858D1D86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82333" y="2235200"/>
              <a:ext cx="7027334" cy="2396067"/>
            </a:xfrm>
            <a:prstGeom prst="round2DiagRect">
              <a:avLst>
                <a:gd name="adj1" fmla="val 9246"/>
                <a:gd name="adj2" fmla="val 0"/>
              </a:avLst>
            </a:prstGeom>
            <a:solidFill>
              <a:schemeClr val="bg1">
                <a:alpha val="80000"/>
              </a:schemeClr>
            </a:solidFill>
            <a:ln w="19050" cap="sq">
              <a:solidFill>
                <a:schemeClr val="tx2">
                  <a:alpha val="60000"/>
                </a:schemeClr>
              </a:solidFill>
              <a:miter lim="800000"/>
            </a:ln>
            <a:effectLst>
              <a:outerShdw blurRad="889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de-DE"/>
            </a:p>
          </p:txBody>
        </p:sp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940B0C0C-7F94-4725-8108-62B3B7A5AE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5895" y="2900097"/>
              <a:ext cx="10982062" cy="1211524"/>
              <a:chOff x="605895" y="2900097"/>
              <a:chExt cx="10982062" cy="1211524"/>
            </a:xfrm>
          </p:grpSpPr>
          <p:sp>
            <p:nvSpPr>
              <p:cNvPr id="17" name="Freihandform 32">
                <a:extLst>
                  <a:ext uri="{FF2B5EF4-FFF2-40B4-BE49-F238E27FC236}">
                    <a16:creationId xmlns:a16="http://schemas.microsoft.com/office/drawing/2014/main" id="{367EAC5B-1891-480A-A3AD-B9F6A88FAC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9653587" y="33797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18" name="Freihandform 33">
                <a:extLst>
                  <a:ext uri="{FF2B5EF4-FFF2-40B4-BE49-F238E27FC236}">
                    <a16:creationId xmlns:a16="http://schemas.microsoft.com/office/drawing/2014/main" id="{E33FF633-15BA-464F-8F5B-26C56665F7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078244" y="33107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19" name="Freihandform 34">
                <a:extLst>
                  <a:ext uri="{FF2B5EF4-FFF2-40B4-BE49-F238E27FC236}">
                    <a16:creationId xmlns:a16="http://schemas.microsoft.com/office/drawing/2014/main" id="{0C949DF6-E66B-4DB8-AB52-30CA781B48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1146631" y="35742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20" name="Freihandform 37">
                <a:extLst>
                  <a:ext uri="{FF2B5EF4-FFF2-40B4-BE49-F238E27FC236}">
                    <a16:creationId xmlns:a16="http://schemas.microsoft.com/office/drawing/2014/main" id="{309C2298-5EF9-4B09-8995-014F6D3BFF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 flipV="1">
                <a:off x="10230644" y="30345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21" name="Freihandform 35">
                <a:extLst>
                  <a:ext uri="{FF2B5EF4-FFF2-40B4-BE49-F238E27FC236}">
                    <a16:creationId xmlns:a16="http://schemas.microsoft.com/office/drawing/2014/main" id="{319B2AFC-EBFF-477C-A364-6D575BE5AA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034587" y="25627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22" name="Freihandform 36">
                <a:extLst>
                  <a:ext uri="{FF2B5EF4-FFF2-40B4-BE49-F238E27FC236}">
                    <a16:creationId xmlns:a16="http://schemas.microsoft.com/office/drawing/2014/main" id="{CC6B7D67-F2F8-4B07-B954-EAC9135B2B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747375" y="32326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23" name="Freihandform 38">
                <a:extLst>
                  <a:ext uri="{FF2B5EF4-FFF2-40B4-BE49-F238E27FC236}">
                    <a16:creationId xmlns:a16="http://schemas.microsoft.com/office/drawing/2014/main" id="{7FF1659D-33DA-4F62-8567-A54020D2E2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1399044" y="30953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24" name="Freihandform 39">
                <a:extLst>
                  <a:ext uri="{FF2B5EF4-FFF2-40B4-BE49-F238E27FC236}">
                    <a16:creationId xmlns:a16="http://schemas.microsoft.com/office/drawing/2014/main" id="{9110F572-DC3D-4AB3-B731-B73BD65057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10353675" y="21531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25" name="Freihandform 40">
                <a:extLst>
                  <a:ext uri="{FF2B5EF4-FFF2-40B4-BE49-F238E27FC236}">
                    <a16:creationId xmlns:a16="http://schemas.microsoft.com/office/drawing/2014/main" id="{A2F7D0E9-68CE-40F9-B0E9-F915103ECF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848850" y="33088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26" name="Rechteck 41">
                <a:extLst>
                  <a:ext uri="{FF2B5EF4-FFF2-40B4-BE49-F238E27FC236}">
                    <a16:creationId xmlns:a16="http://schemas.microsoft.com/office/drawing/2014/main" id="{AB69A438-1FB7-454A-A3E9-0C329643CD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5400000">
                <a:off x="9721056" y="32842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27" name="Freihandform 32">
                <a:extLst>
                  <a:ext uri="{FF2B5EF4-FFF2-40B4-BE49-F238E27FC236}">
                    <a16:creationId xmlns:a16="http://schemas.microsoft.com/office/drawing/2014/main" id="{E64598D0-3A2C-4570-9E7C-C52C89549B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2122751" y="3532184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28" name="Freihandform 33">
                <a:extLst>
                  <a:ext uri="{FF2B5EF4-FFF2-40B4-BE49-F238E27FC236}">
                    <a16:creationId xmlns:a16="http://schemas.microsoft.com/office/drawing/2014/main" id="{CC17CF42-8908-477B-9F36-DA1306CA010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958445" y="3463128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29" name="Freihandform 34">
                <a:extLst>
                  <a:ext uri="{FF2B5EF4-FFF2-40B4-BE49-F238E27FC236}">
                    <a16:creationId xmlns:a16="http://schemas.microsoft.com/office/drawing/2014/main" id="{A2457851-D4A0-404C-BF3F-99AE00B9E9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858308" y="3726653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30" name="Freihandform 37">
                <a:extLst>
                  <a:ext uri="{FF2B5EF4-FFF2-40B4-BE49-F238E27FC236}">
                    <a16:creationId xmlns:a16="http://schemas.microsoft.com/office/drawing/2014/main" id="{ECC300FA-EE4A-489E-9A47-79BEBF05DC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 flipV="1">
                <a:off x="1658407" y="3186902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31" name="Freihandform 35">
                <a:extLst>
                  <a:ext uri="{FF2B5EF4-FFF2-40B4-BE49-F238E27FC236}">
                    <a16:creationId xmlns:a16="http://schemas.microsoft.com/office/drawing/2014/main" id="{0D1F26E2-902B-416B-A1DB-80DAF78D8B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860814" y="271515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32" name="Freihandform 36">
                <a:extLst>
                  <a:ext uri="{FF2B5EF4-FFF2-40B4-BE49-F238E27FC236}">
                    <a16:creationId xmlns:a16="http://schemas.microsoft.com/office/drawing/2014/main" id="{491346A0-BF6D-45A5-806A-2150768722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289314" y="3385079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33" name="Freihandform 38">
                <a:extLst>
                  <a:ext uri="{FF2B5EF4-FFF2-40B4-BE49-F238E27FC236}">
                    <a16:creationId xmlns:a16="http://schemas.microsoft.com/office/drawing/2014/main" id="{A8A5AAC9-38FD-4A03-AB91-236F2AAC62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605895" y="3247760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34" name="Freihandform 39">
                <a:extLst>
                  <a:ext uri="{FF2B5EF4-FFF2-40B4-BE49-F238E27FC236}">
                    <a16:creationId xmlns:a16="http://schemas.microsoft.com/office/drawing/2014/main" id="{7AD4105C-55AA-47FF-AC5D-5BCB0B78CD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1532202" y="2305578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35" name="Freihandform 40">
                <a:extLst>
                  <a:ext uri="{FF2B5EF4-FFF2-40B4-BE49-F238E27FC236}">
                    <a16:creationId xmlns:a16="http://schemas.microsoft.com/office/drawing/2014/main" id="{1C4B42B1-B112-4057-82C3-E5AF3BC7F6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154501" y="346127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e-CH"/>
              </a:p>
            </p:txBody>
          </p:sp>
          <p:sp>
            <p:nvSpPr>
              <p:cNvPr id="36" name="Rechteck 41">
                <a:extLst>
                  <a:ext uri="{FF2B5EF4-FFF2-40B4-BE49-F238E27FC236}">
                    <a16:creationId xmlns:a16="http://schemas.microsoft.com/office/drawing/2014/main" id="{C8B37395-3651-4E66-A62E-31529FABC8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rot="16200000" flipH="1">
                <a:off x="2448983" y="3436672"/>
                <a:ext cx="23813" cy="252413"/>
              </a:xfrm>
              <a:prstGeom prst="rect">
                <a:avLst/>
              </a:prstGeom>
              <a:solidFill>
                <a:schemeClr val="tx2">
                  <a:alpha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srgbClr val="000000">
                    <a:alpha val="58000"/>
                  </a:srgbClr>
                </a:outerShdw>
              </a:effectLst>
            </p:spPr>
            <p:txBody>
              <a:bodyPr/>
              <a:lstStyle/>
              <a:p>
                <a:endParaRPr lang="de-CH"/>
              </a:p>
            </p:txBody>
          </p:sp>
        </p:grp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4D687081-16D7-4BC5-A7DB-E70117439F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9775" y="2579424"/>
            <a:ext cx="6858000" cy="1367896"/>
          </a:xfrm>
        </p:spPr>
        <p:txBody>
          <a:bodyPr rtlCol="0" anchor="ctr">
            <a:normAutofit/>
          </a:bodyPr>
          <a:lstStyle/>
          <a:p>
            <a:pPr algn="ctr" rtl="0"/>
            <a:r>
              <a:rPr lang="de-DE" sz="8000" dirty="0"/>
              <a:t>Rest-food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841851F-203A-4F8E-AA75-478526ABA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9778" y="3916360"/>
            <a:ext cx="6857999" cy="561645"/>
          </a:xfrm>
        </p:spPr>
        <p:txBody>
          <a:bodyPr rtlCol="0">
            <a:normAutofit/>
          </a:bodyPr>
          <a:lstStyle/>
          <a:p>
            <a:pPr algn="ctr" rtl="0"/>
            <a:r>
              <a:rPr lang="de-DE" dirty="0"/>
              <a:t>Fidan, </a:t>
            </a:r>
            <a:r>
              <a:rPr lang="de-DE" dirty="0" err="1"/>
              <a:t>fabian</a:t>
            </a:r>
            <a:r>
              <a:rPr lang="de-DE" dirty="0"/>
              <a:t>, </a:t>
            </a:r>
            <a:r>
              <a:rPr lang="de-DE" dirty="0" err="1"/>
              <a:t>nico</a:t>
            </a:r>
            <a:r>
              <a:rPr lang="de-DE" dirty="0"/>
              <a:t>, </a:t>
            </a:r>
            <a:r>
              <a:rPr lang="de-DE" dirty="0" err="1"/>
              <a:t>tina</a:t>
            </a:r>
            <a:endParaRPr lang="de-DE" dirty="0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6B6D540F-1E2F-416F-819F-D8216BC8F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75816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76A392-814B-2C44-BEDE-B0B3EDFE7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933" y="560181"/>
            <a:ext cx="9905998" cy="1478570"/>
          </a:xfrm>
        </p:spPr>
        <p:txBody>
          <a:bodyPr>
            <a:normAutofit/>
          </a:bodyPr>
          <a:lstStyle/>
          <a:p>
            <a:r>
              <a:rPr lang="de-CH" sz="4400" b="1"/>
              <a:t>Inhaltsverzeichnis</a:t>
            </a:r>
            <a:endParaRPr lang="de-CH" sz="4400" b="1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50131A-C8DA-3AE8-F9FC-95D1382BD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510" y="2383466"/>
            <a:ext cx="4128389" cy="3541714"/>
          </a:xfrm>
        </p:spPr>
        <p:txBody>
          <a:bodyPr>
            <a:normAutofit fontScale="92500" lnSpcReduction="10000"/>
          </a:bodyPr>
          <a:lstStyle/>
          <a:p>
            <a:r>
              <a:rPr lang="de-CH"/>
              <a:t>Unser Team</a:t>
            </a:r>
          </a:p>
          <a:p>
            <a:r>
              <a:rPr lang="de-CH"/>
              <a:t>Was wir umgesetzt haben</a:t>
            </a:r>
          </a:p>
          <a:p>
            <a:r>
              <a:rPr lang="de-CH"/>
              <a:t>Was die Applikation kann</a:t>
            </a:r>
          </a:p>
          <a:p>
            <a:r>
              <a:rPr lang="de-CH"/>
              <a:t>Highlights</a:t>
            </a:r>
          </a:p>
          <a:p>
            <a:r>
              <a:rPr lang="de-CH"/>
              <a:t>Demo</a:t>
            </a:r>
          </a:p>
          <a:p>
            <a:r>
              <a:rPr lang="de-CH"/>
              <a:t>Unser Vorgehen</a:t>
            </a:r>
          </a:p>
          <a:p>
            <a:r>
              <a:rPr lang="de-CH"/>
              <a:t>Mockups</a:t>
            </a:r>
          </a:p>
        </p:txBody>
      </p:sp>
      <p:pic>
        <p:nvPicPr>
          <p:cNvPr id="15" name="Grafik 14" descr="A beautifully arranged trio of homemade pizzas, each topped with a variety of fresh ingredients like tomatoes, basil, and mushrooms, displayed on a pristine white tablecloth.&#10;&#10;KI-generierte Inhalte können fehlerhaft sein.">
            <a:extLst>
              <a:ext uri="{FF2B5EF4-FFF2-40B4-BE49-F238E27FC236}">
                <a16:creationId xmlns:a16="http://schemas.microsoft.com/office/drawing/2014/main" id="{B9C3B60F-BB0B-C0B2-C670-4E3147394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866" y="-53611"/>
            <a:ext cx="3575734" cy="6978450"/>
          </a:xfrm>
          <a:prstGeom prst="rect">
            <a:avLst/>
          </a:prstGeom>
        </p:spPr>
      </p:pic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2B9D55EB-D447-08AD-7C39-2B7878719266}"/>
              </a:ext>
            </a:extLst>
          </p:cNvPr>
          <p:cNvSpPr txBox="1">
            <a:spLocks/>
          </p:cNvSpPr>
          <p:nvPr/>
        </p:nvSpPr>
        <p:spPr>
          <a:xfrm>
            <a:off x="4699088" y="2307266"/>
            <a:ext cx="412838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CH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F2C969B0-8E02-05D3-4F16-EF59FDD8743A}"/>
              </a:ext>
            </a:extLst>
          </p:cNvPr>
          <p:cNvSpPr txBox="1">
            <a:spLocks/>
          </p:cNvSpPr>
          <p:nvPr/>
        </p:nvSpPr>
        <p:spPr>
          <a:xfrm>
            <a:off x="4644283" y="2307266"/>
            <a:ext cx="412838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CH" sz="2200"/>
              <a:t>Technologie &amp; Architektur</a:t>
            </a:r>
          </a:p>
          <a:p>
            <a:r>
              <a:rPr lang="de-CH" sz="2200"/>
              <a:t>Systemübersicht</a:t>
            </a:r>
          </a:p>
          <a:p>
            <a:r>
              <a:rPr lang="de-CH" sz="2200" err="1"/>
              <a:t>Testing</a:t>
            </a:r>
            <a:r>
              <a:rPr lang="de-CH" sz="2200"/>
              <a:t> Herausforderung</a:t>
            </a:r>
          </a:p>
          <a:p>
            <a:r>
              <a:rPr lang="de-CH" sz="2200"/>
              <a:t>Ausblick</a:t>
            </a:r>
          </a:p>
        </p:txBody>
      </p:sp>
    </p:spTree>
    <p:extLst>
      <p:ext uri="{BB962C8B-B14F-4D97-AF65-F5344CB8AC3E}">
        <p14:creationId xmlns:p14="http://schemas.microsoft.com/office/powerpoint/2010/main" val="405863585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98E3ED-3A83-E51D-8E62-97CC055EB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64808"/>
            <a:ext cx="9905998" cy="1478570"/>
          </a:xfrm>
        </p:spPr>
        <p:txBody>
          <a:bodyPr>
            <a:normAutofit/>
          </a:bodyPr>
          <a:lstStyle/>
          <a:p>
            <a:r>
              <a:rPr lang="de-CH" sz="4400" b="1" dirty="0"/>
              <a:t>Unser Team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91CF35B-67E2-7885-B307-615BC32E99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2" y="1613561"/>
            <a:ext cx="4878389" cy="3541714"/>
          </a:xfrm>
        </p:spPr>
        <p:txBody>
          <a:bodyPr/>
          <a:lstStyle/>
          <a:p>
            <a:r>
              <a:rPr lang="de-CH" sz="2800" b="1" dirty="0"/>
              <a:t>Frontend</a:t>
            </a:r>
            <a:endParaRPr lang="de-CH" dirty="0"/>
          </a:p>
          <a:p>
            <a:pPr lvl="1"/>
            <a:r>
              <a:rPr lang="de-CH" dirty="0"/>
              <a:t>Nico</a:t>
            </a:r>
          </a:p>
          <a:p>
            <a:pPr lvl="1"/>
            <a:r>
              <a:rPr lang="de-CH" dirty="0"/>
              <a:t>Tina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A31E302-E36E-17BE-7010-3076A9DB9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13561"/>
            <a:ext cx="4875211" cy="3541714"/>
          </a:xfrm>
        </p:spPr>
        <p:txBody>
          <a:bodyPr/>
          <a:lstStyle/>
          <a:p>
            <a:r>
              <a:rPr lang="de-CH" sz="2800" b="1" dirty="0"/>
              <a:t>Backend</a:t>
            </a:r>
          </a:p>
          <a:p>
            <a:pPr lvl="1"/>
            <a:r>
              <a:rPr lang="de-CH" dirty="0"/>
              <a:t>Fidan</a:t>
            </a:r>
          </a:p>
          <a:p>
            <a:pPr lvl="1"/>
            <a:r>
              <a:rPr lang="de-CH" dirty="0"/>
              <a:t>Fabian</a:t>
            </a:r>
          </a:p>
        </p:txBody>
      </p:sp>
      <p:pic>
        <p:nvPicPr>
          <p:cNvPr id="10" name="Grafik 9" descr="The image shows a person with short, light hair wearing a black t-shirt.&#10;&#10;KI-generierte Inhalte können fehlerhaft sein.">
            <a:extLst>
              <a:ext uri="{FF2B5EF4-FFF2-40B4-BE49-F238E27FC236}">
                <a16:creationId xmlns:a16="http://schemas.microsoft.com/office/drawing/2014/main" id="{C16A4695-A533-26B1-A163-1974C9DD2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108450"/>
            <a:ext cx="2527300" cy="25273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2" name="Grafik 11" descr="The image shows a person with curly hair wearing a black t-shirt.&#10;&#10;KI-generierte Inhalte können fehlerhaft sein.">
            <a:extLst>
              <a:ext uri="{FF2B5EF4-FFF2-40B4-BE49-F238E27FC236}">
                <a16:creationId xmlns:a16="http://schemas.microsoft.com/office/drawing/2014/main" id="{3D078E3C-7B0D-325B-44CE-F84F30E63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4108450"/>
            <a:ext cx="2527300" cy="25273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4" name="Grafik 13" descr="The image shows a person with long, light-colored hair wearing a gray shirt and a chain necklace.&#10;&#10;KI-generierte Inhalte können fehlerhaft sein.">
            <a:extLst>
              <a:ext uri="{FF2B5EF4-FFF2-40B4-BE49-F238E27FC236}">
                <a16:creationId xmlns:a16="http://schemas.microsoft.com/office/drawing/2014/main" id="{97190B38-E9AE-2810-D9C0-A143559F1F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4108450"/>
            <a:ext cx="2527300" cy="25273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6" name="Grafik 15" descr="The image shows a person with light-brown hair wearing a green t-shirt.&#10;&#10;KI-generierte Inhalte können fehlerhaft sein.">
            <a:extLst>
              <a:ext uri="{FF2B5EF4-FFF2-40B4-BE49-F238E27FC236}">
                <a16:creationId xmlns:a16="http://schemas.microsoft.com/office/drawing/2014/main" id="{19494F08-1135-2640-D647-1AF4ECE01B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4108450"/>
            <a:ext cx="2527300" cy="25273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6182750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A7EB7B4-3344-6D22-86EE-C9540944C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762" y="376140"/>
            <a:ext cx="6549838" cy="1478570"/>
          </a:xfrm>
        </p:spPr>
        <p:txBody>
          <a:bodyPr>
            <a:normAutofit/>
          </a:bodyPr>
          <a:lstStyle/>
          <a:p>
            <a:r>
              <a:rPr lang="de-CH" sz="4400"/>
              <a:t>Was wir umgesetzt haben</a:t>
            </a:r>
            <a:endParaRPr lang="de-CH" sz="44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A10E5FA-026A-0EBD-B716-D033A1A64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5063" y="1966288"/>
            <a:ext cx="5068888" cy="271169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e-CH"/>
              <a:t>Homepage – Willkommensseite</a:t>
            </a:r>
          </a:p>
          <a:p>
            <a:r>
              <a:rPr lang="de-CH"/>
              <a:t>Menükarte</a:t>
            </a:r>
          </a:p>
          <a:p>
            <a:r>
              <a:rPr lang="de-CH"/>
              <a:t>Online-Reservierung</a:t>
            </a:r>
          </a:p>
          <a:p>
            <a:r>
              <a:rPr lang="de-CH"/>
              <a:t>Dashboard</a:t>
            </a:r>
          </a:p>
        </p:txBody>
      </p:sp>
      <p:pic>
        <p:nvPicPr>
          <p:cNvPr id="7" name="Grafik 6" descr="Rest-Food&#10;&#10;KI-generierte Inhalte können fehlerhaft sein.">
            <a:extLst>
              <a:ext uri="{FF2B5EF4-FFF2-40B4-BE49-F238E27FC236}">
                <a16:creationId xmlns:a16="http://schemas.microsoft.com/office/drawing/2014/main" id="{25505C00-0D24-FA8B-9E2A-8C3EBC24C04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</a:blip>
          <a:srcRect b="31971"/>
          <a:stretch>
            <a:fillRect/>
          </a:stretch>
        </p:blipFill>
        <p:spPr>
          <a:xfrm>
            <a:off x="7693640" y="177491"/>
            <a:ext cx="4059779" cy="147857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Grafik 8" descr="The image displays a restaurant's digital menu page featuring various types of pizzas, including Margherita, Salami, Prosciutto, Funghi, Quattro Formaggi, Diavola, and different combinations of toppings, along with a Chef's Choice section, all priced at ￢ﾂﾬ10.90 to ￢ﾂﾬ15.90.&#10;&#10;KI-generierte Inhalte können fehlerhaft sein.">
            <a:extLst>
              <a:ext uri="{FF2B5EF4-FFF2-40B4-BE49-F238E27FC236}">
                <a16:creationId xmlns:a16="http://schemas.microsoft.com/office/drawing/2014/main" id="{A0DA31D5-5426-D9E3-E305-FCB2D7AE8E2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7659949" y="1966288"/>
            <a:ext cx="4059780" cy="219969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Grafik 10" descr="The image shows a web page with a form for reserving a table, offering options to select the number of people and available tables.&#10;&#10;KI-generierte Inhalte können fehlerhaft sein.">
            <a:extLst>
              <a:ext uri="{FF2B5EF4-FFF2-40B4-BE49-F238E27FC236}">
                <a16:creationId xmlns:a16="http://schemas.microsoft.com/office/drawing/2014/main" id="{4DEAC9D4-14F3-29F3-0587-C19F5021D2E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1299769" y="4555652"/>
            <a:ext cx="4517201" cy="220156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3" name="Grafik 12" descr="The image is a restaurant reservation page showing available bookings, menu items, and pricing for various pizzas.&#10;&#10;KI-generierte Inhalte können fehlerhaft sein.">
            <a:extLst>
              <a:ext uri="{FF2B5EF4-FFF2-40B4-BE49-F238E27FC236}">
                <a16:creationId xmlns:a16="http://schemas.microsoft.com/office/drawing/2014/main" id="{D9E2CA72-42B9-8E88-D5D1-5690E20917C0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>
            <a:off x="7693639" y="4498008"/>
            <a:ext cx="4059779" cy="220156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116894527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4745186-06E1-03F9-03CF-318EFFF82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8989AF-732C-7190-81FC-F528ACCF1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94343"/>
            <a:ext cx="9905998" cy="1478570"/>
          </a:xfrm>
        </p:spPr>
        <p:txBody>
          <a:bodyPr>
            <a:normAutofit/>
          </a:bodyPr>
          <a:lstStyle/>
          <a:p>
            <a:r>
              <a:rPr lang="de-CH" sz="4400" b="1"/>
              <a:t>Was die </a:t>
            </a:r>
            <a:r>
              <a:rPr lang="de-CH" sz="4400" b="1" err="1"/>
              <a:t>WebApplikation</a:t>
            </a:r>
            <a:r>
              <a:rPr lang="de-CH" sz="4400" b="1"/>
              <a:t> alles kann</a:t>
            </a:r>
          </a:p>
        </p:txBody>
      </p:sp>
      <p:pic>
        <p:nvPicPr>
          <p:cNvPr id="9" name="Grafik 8" descr="The image is a web application interface layout for a restaurant booking system, featuring features like reservation, recommendations, table selection, filtering options, contact for inquiries, dashboard access for employees, mobile and desktop compatibility, menu management, and user-friendly error messages.&#10;&#10;KI-generierte Inhalte können fehlerhaft sein.">
            <a:extLst>
              <a:ext uri="{FF2B5EF4-FFF2-40B4-BE49-F238E27FC236}">
                <a16:creationId xmlns:a16="http://schemas.microsoft.com/office/drawing/2014/main" id="{636295CD-50C2-6F81-1D5B-6211A038AF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677"/>
          <a:stretch>
            <a:fillRect/>
          </a:stretch>
        </p:blipFill>
        <p:spPr>
          <a:xfrm>
            <a:off x="1141413" y="1190560"/>
            <a:ext cx="10017694" cy="566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327640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4035A3-F8F5-5D7C-8FDB-E38B1725A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sz="4400" b="1"/>
              <a:t>Highlights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DA4D506-F346-7A0A-27A9-F0B87551D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1410" y="2097087"/>
            <a:ext cx="4649783" cy="823912"/>
          </a:xfrm>
        </p:spPr>
        <p:txBody>
          <a:bodyPr>
            <a:normAutofit/>
          </a:bodyPr>
          <a:lstStyle/>
          <a:p>
            <a:r>
              <a:rPr lang="de-CH" sz="2800" b="1"/>
              <a:t>Funktionen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76C3B8C-62D2-D1C9-60FB-DB3B33D43A6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CH"/>
              <a:t>Speisekarte eingebunden</a:t>
            </a:r>
          </a:p>
          <a:p>
            <a:r>
              <a:rPr lang="de-CH"/>
              <a:t>Menü / Reservation verwaltbar</a:t>
            </a:r>
          </a:p>
          <a:p>
            <a:r>
              <a:rPr lang="de-CH"/>
              <a:t>Daten werden gespeichert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3F844AA-1C8F-8DD1-3C1C-517569D145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52095" y="2115638"/>
            <a:ext cx="4646602" cy="8239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CH" sz="2800" b="1"/>
              <a:t>Design &amp; Oberfläche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1C04C4D-EBDF-1AFC-4848-D5525BA0B1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52095" y="3015749"/>
            <a:ext cx="4875210" cy="2717801"/>
          </a:xfrm>
        </p:spPr>
        <p:txBody>
          <a:bodyPr/>
          <a:lstStyle/>
          <a:p>
            <a:r>
              <a:rPr lang="de-CH"/>
              <a:t>Logo gestaltet</a:t>
            </a:r>
          </a:p>
          <a:p>
            <a:r>
              <a:rPr lang="de-CH"/>
              <a:t>Layout geplant</a:t>
            </a:r>
          </a:p>
          <a:p>
            <a:r>
              <a:rPr lang="de-CH"/>
              <a:t>Benutzerfreundliche Ansicht erstellt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C48A8F6-F3DC-F673-F6DE-7EB13ABB9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9639645" y="576580"/>
            <a:ext cx="1459052" cy="1459052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6F2B7611-89E8-D640-CE64-B55B2557B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490268">
            <a:off x="5604628" y="358446"/>
            <a:ext cx="1742092" cy="174405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C1A264B3-17D9-3F49-6ED2-407A7CA58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98759">
            <a:off x="8136816" y="1627401"/>
            <a:ext cx="815542" cy="816459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B9609C44-C567-5C7D-871E-D70878B25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28860">
            <a:off x="1816592" y="4690815"/>
            <a:ext cx="1976442" cy="1978663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FDB29D37-1C48-018A-A981-8C0FE0BB5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195417">
            <a:off x="497599" y="4357935"/>
            <a:ext cx="958918" cy="959996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81C3B0E7-2D98-00E8-8524-25923882B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51863">
            <a:off x="4532253" y="4673062"/>
            <a:ext cx="1342895" cy="1344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94329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A9C2E12-9DA4-9F19-4F1B-47ACD615A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F56650-3623-9981-B3CF-BCAA63D54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689471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de-CH" sz="9600" b="1" dirty="0" err="1"/>
              <a:t>demo</a:t>
            </a:r>
            <a:endParaRPr lang="de-CH" sz="9600" b="1" dirty="0"/>
          </a:p>
        </p:txBody>
      </p:sp>
    </p:spTree>
    <p:extLst>
      <p:ext uri="{BB962C8B-B14F-4D97-AF65-F5344CB8AC3E}">
        <p14:creationId xmlns:p14="http://schemas.microsoft.com/office/powerpoint/2010/main" val="3243794989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1554AD-81BA-F5DD-50AC-CFF1069C7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sz="4400" b="1" dirty="0"/>
              <a:t>Unser Vorgehen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F3346E-96CF-3659-4680-BC97125F62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5667707" cy="3541714"/>
          </a:xfrm>
        </p:spPr>
        <p:txBody>
          <a:bodyPr/>
          <a:lstStyle/>
          <a:p>
            <a:r>
              <a:rPr lang="de-CH"/>
              <a:t>Strukturiertes Projektvorgehen</a:t>
            </a:r>
            <a:endParaRPr lang="de-CH" dirty="0"/>
          </a:p>
          <a:p>
            <a:r>
              <a:rPr lang="de-CH" dirty="0"/>
              <a:t>Tägliche Status-Meetings (Dailys)</a:t>
            </a:r>
          </a:p>
          <a:p>
            <a:r>
              <a:rPr lang="de-CH" dirty="0"/>
              <a:t>Klare </a:t>
            </a:r>
            <a:r>
              <a:rPr lang="de-CH"/>
              <a:t>Aufgabenverteilung: Logik &amp; Design</a:t>
            </a:r>
            <a:endParaRPr lang="de-CH" dirty="0"/>
          </a:p>
        </p:txBody>
      </p:sp>
      <p:pic>
        <p:nvPicPr>
          <p:cNvPr id="8" name="Grafik 7" descr="The image illustrates a project timeline, starting with planning and analysis from June 3-4, followed by implementation, mockup, architecture, testing, documentation, and a daily process from June 11-12, with the acronym IPERKA possibly representing a specific methodology or project name.&#10;&#10;KI-generierte Inhalte können fehlerhaft sein.">
            <a:extLst>
              <a:ext uri="{FF2B5EF4-FFF2-40B4-BE49-F238E27FC236}">
                <a16:creationId xmlns:a16="http://schemas.microsoft.com/office/drawing/2014/main" id="{AEB896E6-612E-DC6D-1955-BFB1676F29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4712"/>
          <a:stretch>
            <a:fillRect/>
          </a:stretch>
        </p:blipFill>
        <p:spPr>
          <a:xfrm>
            <a:off x="809676" y="3429000"/>
            <a:ext cx="10412562" cy="3212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557410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357AA9-A9FA-23CE-286F-AFEC2966B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sz="4400" b="1" dirty="0"/>
              <a:t>Mockups</a:t>
            </a:r>
          </a:p>
        </p:txBody>
      </p:sp>
      <p:pic>
        <p:nvPicPr>
          <p:cNvPr id="5" name="Inhaltsplatzhalter 4" descr="The image is a webpage screenshot for a pizza restaurant called Schmackhafte Pizza, featuring a menu with various pizza options, including classic, vegetarian, and vegan choices, and a reservation section.&#10;&#10;KI-generierte Inhalte können fehlerhaft sein.">
            <a:extLst>
              <a:ext uri="{FF2B5EF4-FFF2-40B4-BE49-F238E27FC236}">
                <a16:creationId xmlns:a16="http://schemas.microsoft.com/office/drawing/2014/main" id="{416AE845-A117-FAEF-F38F-3D78C874AE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2137" y="2284776"/>
            <a:ext cx="4013433" cy="284419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9" name="Grafik 8" descr="The image depicts a webpage layout for a restaurant management system with a section for admin login.&#10;&#10;KI-generierte Inhalte können fehlerhaft sein.">
            <a:extLst>
              <a:ext uri="{FF2B5EF4-FFF2-40B4-BE49-F238E27FC236}">
                <a16:creationId xmlns:a16="http://schemas.microsoft.com/office/drawing/2014/main" id="{3E659245-EC3F-0677-0A93-783856394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6151" y="252686"/>
            <a:ext cx="3759327" cy="265811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Grafik 10" descr="The image is a webpage for Schmackhafte Pizza, featuring a reservation form with options to select a date, time, and table size.&#10;&#10;KI-generierte Inhalte können fehlerhaft sein.">
            <a:extLst>
              <a:ext uri="{FF2B5EF4-FFF2-40B4-BE49-F238E27FC236}">
                <a16:creationId xmlns:a16="http://schemas.microsoft.com/office/drawing/2014/main" id="{D9D26552-A61F-2527-BD34-821A3E4FCD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8018" y="3509513"/>
            <a:ext cx="6057823" cy="299454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537165257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B6634BC-15DF-C4CB-87A9-3B4EF3C20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9DA5D0-FF96-E225-E87E-5A3FFD055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sz="4400" b="1" dirty="0"/>
              <a:t>Technologie &amp; Architektur</a:t>
            </a:r>
          </a:p>
        </p:txBody>
      </p:sp>
      <p:pic>
        <p:nvPicPr>
          <p:cNvPr id="10" name="Inhaltsplatzhalter 9" descr="The image illustrates a web application's data flow, showing user interface, application logic, data storage, and processing of reservations and menu data.&#10;&#10;KI-generierte Inhalte können fehlerhaft sein.">
            <a:extLst>
              <a:ext uri="{FF2B5EF4-FFF2-40B4-BE49-F238E27FC236}">
                <a16:creationId xmlns:a16="http://schemas.microsoft.com/office/drawing/2014/main" id="{A4BF6F56-80CD-6922-726C-E16E46CFAC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4952"/>
          <a:stretch>
            <a:fillRect/>
          </a:stretch>
        </p:blipFill>
        <p:spPr>
          <a:xfrm>
            <a:off x="-491976" y="2434619"/>
            <a:ext cx="13175952" cy="2888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258999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53B41E-8223-ECCE-8223-14DAB96A7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935" y="641964"/>
            <a:ext cx="9905998" cy="1478570"/>
          </a:xfrm>
        </p:spPr>
        <p:txBody>
          <a:bodyPr>
            <a:normAutofit/>
          </a:bodyPr>
          <a:lstStyle/>
          <a:p>
            <a:r>
              <a:rPr lang="de-CH" sz="4400" b="1" dirty="0"/>
              <a:t>Systemübersicht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706BEB-1CAD-1F31-6F63-C8D2EA0DA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935" y="2255349"/>
            <a:ext cx="5917479" cy="3541714"/>
          </a:xfrm>
        </p:spPr>
        <p:txBody>
          <a:bodyPr>
            <a:normAutofit lnSpcReduction="10000"/>
          </a:bodyPr>
          <a:lstStyle/>
          <a:p>
            <a:r>
              <a:rPr lang="de-CH"/>
              <a:t>Benutzeroberfläche für Gäste </a:t>
            </a:r>
            <a:r>
              <a:rPr lang="de-CH" dirty="0"/>
              <a:t>und </a:t>
            </a:r>
            <a:r>
              <a:rPr lang="de-CH"/>
              <a:t>Mitarbeitende</a:t>
            </a:r>
            <a:endParaRPr lang="de-CH" dirty="0"/>
          </a:p>
          <a:p>
            <a:r>
              <a:rPr lang="de-CH"/>
              <a:t>Verarbeitung von </a:t>
            </a:r>
            <a:r>
              <a:rPr lang="de-CH" dirty="0"/>
              <a:t>Menüs, </a:t>
            </a:r>
            <a:r>
              <a:rPr lang="de-CH"/>
              <a:t>Tischen </a:t>
            </a:r>
            <a:r>
              <a:rPr lang="de-CH" dirty="0"/>
              <a:t>und </a:t>
            </a:r>
            <a:r>
              <a:rPr lang="de-CH"/>
              <a:t>Reservierungen</a:t>
            </a:r>
          </a:p>
          <a:p>
            <a:r>
              <a:rPr lang="de-CH"/>
              <a:t>Speicherung aller wichtigen Daten</a:t>
            </a:r>
            <a:endParaRPr lang="de-CH" dirty="0"/>
          </a:p>
          <a:p>
            <a:r>
              <a:rPr lang="de-CH"/>
              <a:t>Austausch zwischen Website und System</a:t>
            </a:r>
            <a:endParaRPr lang="de-CH" dirty="0"/>
          </a:p>
          <a:p>
            <a:r>
              <a:rPr lang="de-CH"/>
              <a:t>Klare Trennung von Anzeige, Logik </a:t>
            </a:r>
            <a:r>
              <a:rPr lang="de-CH" dirty="0"/>
              <a:t>und </a:t>
            </a:r>
            <a:r>
              <a:rPr lang="de-CH"/>
              <a:t>Daten</a:t>
            </a:r>
            <a:endParaRPr lang="de-CH" dirty="0"/>
          </a:p>
        </p:txBody>
      </p:sp>
      <p:pic>
        <p:nvPicPr>
          <p:cNvPr id="4" name="Grafik 3" descr="ChatGPT Image 12. Juni 2026, 13_44_28.png">
            <a:extLst>
              <a:ext uri="{FF2B5EF4-FFF2-40B4-BE49-F238E27FC236}">
                <a16:creationId xmlns:a16="http://schemas.microsoft.com/office/drawing/2014/main" id="{0047B687-D08C-B01A-B1E7-F4E5C716B4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057" y="1060937"/>
            <a:ext cx="6187689" cy="348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502374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F3C7140-DADE-2FD7-4882-B3BAA3BEF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FCEF3E-93EB-C5EB-3AAB-1C94B674F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126518"/>
            <a:ext cx="9905998" cy="1478570"/>
          </a:xfrm>
        </p:spPr>
        <p:txBody>
          <a:bodyPr>
            <a:normAutofit/>
          </a:bodyPr>
          <a:lstStyle/>
          <a:p>
            <a:r>
              <a:rPr lang="de-CH" sz="4400" b="1" dirty="0" err="1"/>
              <a:t>testing</a:t>
            </a:r>
            <a:endParaRPr lang="de-CH" sz="4400" b="1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47BF77F-7535-AE4E-8250-B86C252CC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1064" y="2862157"/>
            <a:ext cx="5166623" cy="3541714"/>
          </a:xfrm>
        </p:spPr>
        <p:txBody>
          <a:bodyPr/>
          <a:lstStyle/>
          <a:p>
            <a:r>
              <a:rPr lang="de-CH"/>
              <a:t>Schnittstellen </a:t>
            </a:r>
            <a:r>
              <a:rPr lang="de-CH" dirty="0"/>
              <a:t>mit Postman</a:t>
            </a:r>
            <a:r>
              <a:rPr lang="de-CH"/>
              <a:t> getestet</a:t>
            </a:r>
          </a:p>
          <a:p>
            <a:r>
              <a:rPr lang="de-CH"/>
              <a:t>Funktionen der Webapplikation geprüft</a:t>
            </a:r>
            <a:endParaRPr lang="de-CH" dirty="0"/>
          </a:p>
          <a:p>
            <a:r>
              <a:rPr lang="de-CH"/>
              <a:t>Reservierung </a:t>
            </a:r>
            <a:r>
              <a:rPr lang="de-CH" dirty="0"/>
              <a:t>und </a:t>
            </a:r>
            <a:r>
              <a:rPr lang="de-CH"/>
              <a:t>Menüverwaltung getestet</a:t>
            </a:r>
          </a:p>
          <a:p>
            <a:r>
              <a:rPr lang="de-CH"/>
              <a:t>Fehlermeldungen kontrolliert</a:t>
            </a:r>
            <a:endParaRPr lang="de-CH" dirty="0"/>
          </a:p>
        </p:txBody>
      </p:sp>
      <p:pic>
        <p:nvPicPr>
          <p:cNvPr id="6" name="Grafik 5" descr="Postman (API) - Testautomatisierung.org">
            <a:extLst>
              <a:ext uri="{FF2B5EF4-FFF2-40B4-BE49-F238E27FC236}">
                <a16:creationId xmlns:a16="http://schemas.microsoft.com/office/drawing/2014/main" id="{FAC8B9F7-384A-9107-A35F-1676F5DE37E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/>
        </p:blipFill>
        <p:spPr>
          <a:xfrm>
            <a:off x="-22900" y="2394206"/>
            <a:ext cx="6663964" cy="4073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485880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2605A56-233F-10F6-79B5-752237A11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D9B5A4-0B02-DB2B-6535-FA97485E1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sz="4400" b="1" dirty="0"/>
              <a:t>Herausforderungen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C6132811-3185-BFFF-6680-37B03B2C2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3541714"/>
          </a:xfrm>
        </p:spPr>
        <p:txBody>
          <a:bodyPr/>
          <a:lstStyle/>
          <a:p>
            <a:r>
              <a:rPr lang="de-CH"/>
              <a:t>Projektstart → klare Aufgabenverteilung</a:t>
            </a:r>
          </a:p>
          <a:p>
            <a:r>
              <a:rPr lang="de-CH"/>
              <a:t>Technische Einrichtung → schwaches WLAN</a:t>
            </a:r>
          </a:p>
        </p:txBody>
      </p:sp>
      <p:pic>
        <p:nvPicPr>
          <p:cNvPr id="6" name="Grafik 5" descr="The image depicts a minimalistic design featuring a wireless signal icon with a red diagonal line.&#10;&#10;KI-generierte Inhalte können fehlerhaft sein.">
            <a:extLst>
              <a:ext uri="{FF2B5EF4-FFF2-40B4-BE49-F238E27FC236}">
                <a16:creationId xmlns:a16="http://schemas.microsoft.com/office/drawing/2014/main" id="{5FBBE157-023D-41C0-E2CF-356550B31A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131" r="35217"/>
          <a:stretch>
            <a:fillRect/>
          </a:stretch>
        </p:blipFill>
        <p:spPr>
          <a:xfrm>
            <a:off x="6581562" y="1066799"/>
            <a:ext cx="4465849" cy="4750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633513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2DC7C58-8F23-3F63-3602-33F42BD51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9B4A0A-8334-4959-EE01-1149EA29F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sz="4400" b="1" dirty="0"/>
              <a:t>Ausblick</a:t>
            </a:r>
          </a:p>
        </p:txBody>
      </p:sp>
      <p:pic>
        <p:nvPicPr>
          <p:cNvPr id="6" name="Grafik 5" descr="The diagram illustrates a user interface for the REST Foods App, featuring key features such as email confirmations, online payments, customer accounts, multilingual support, and online ordering.&#10;&#10;KI-generierte Inhalte können fehlerhaft sein.">
            <a:extLst>
              <a:ext uri="{FF2B5EF4-FFF2-40B4-BE49-F238E27FC236}">
                <a16:creationId xmlns:a16="http://schemas.microsoft.com/office/drawing/2014/main" id="{E8CA6A0C-8372-8827-0729-092523B1B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516" y="350925"/>
            <a:ext cx="12607733" cy="5987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768546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E32768A-D583-2703-FAA7-A3A319712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C1EBF9-9926-7FBC-66A0-8E24FAB65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689471"/>
            <a:ext cx="9905998" cy="1478570"/>
          </a:xfrm>
        </p:spPr>
        <p:txBody>
          <a:bodyPr>
            <a:normAutofit fontScale="90000"/>
          </a:bodyPr>
          <a:lstStyle/>
          <a:p>
            <a:pPr algn="ctr"/>
            <a:r>
              <a:rPr lang="de-CH" sz="6000" b="1" dirty="0"/>
              <a:t>Vielen dank</a:t>
            </a:r>
            <a:r>
              <a:rPr lang="de-CH" sz="6000" b="1"/>
              <a:t> für eure Aufmerksamkeit </a:t>
            </a:r>
            <a:endParaRPr lang="de-CH" sz="6000" b="1" dirty="0"/>
          </a:p>
        </p:txBody>
      </p:sp>
    </p:spTree>
    <p:extLst>
      <p:ext uri="{BB962C8B-B14F-4D97-AF65-F5344CB8AC3E}">
        <p14:creationId xmlns:p14="http://schemas.microsoft.com/office/powerpoint/2010/main" val="2204100949"/>
      </p:ext>
    </p:extLst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Kreis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0521489_TF22898775_Win32" id="{E3731C39-7AD2-4FF4-A275-C46DE3FFD6C9}" vid="{A5B6A714-1BF2-4ABC-B8F3-830ED1C7E8B8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6B183BB-1E8F-42CC-BDB5-B2D759D3043D}">
  <we:reference id="f5f369e5-aa35-49d7-ad7b-638152ddb008" version="1.0.0.1" store="EXCatalog" storeType="EXCatalog"/>
  <we:alternateReferences>
    <we:reference id="WA200010001" version="1.0.0.1" store="de-DE" storeType="OMEX"/>
  </we:alternateReferences>
  <we:properties>
    <we:property name="claude.fileId" value="&quot;9eeabca9-d6d6-4683-891c-00b2a197763c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1fb09bc-1672-4785-adc5-024c2b626b2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B1256F8A60DCA4E82C1A51F6CCCD0E2" ma:contentTypeVersion="10" ma:contentTypeDescription="Ein neues Dokument erstellen." ma:contentTypeScope="" ma:versionID="9d65575f705954e134287a3dfa94f66e">
  <xsd:schema xmlns:xsd="http://www.w3.org/2001/XMLSchema" xmlns:xs="http://www.w3.org/2001/XMLSchema" xmlns:p="http://schemas.microsoft.com/office/2006/metadata/properties" xmlns:ns3="11fb09bc-1672-4785-adc5-024c2b626b25" targetNamespace="http://schemas.microsoft.com/office/2006/metadata/properties" ma:root="true" ma:fieldsID="fa60f36550c06d7d1942d598dd876c3f" ns3:_="">
    <xsd:import namespace="11fb09bc-1672-4785-adc5-024c2b626b2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SystemTag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fb09bc-1672-4785-adc5-024c2b626b2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518BD99-41E9-467C-9777-74587F831718}">
  <ds:schemaRefs>
    <ds:schemaRef ds:uri="http://purl.org/dc/dcmitype/"/>
    <ds:schemaRef ds:uri="http://purl.org/dc/elements/1.1/"/>
    <ds:schemaRef ds:uri="http://schemas.microsoft.com/office/2006/metadata/properties"/>
    <ds:schemaRef ds:uri="http://www.w3.org/XML/1998/namespace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11fb09bc-1672-4785-adc5-024c2b626b25"/>
  </ds:schemaRefs>
</ds:datastoreItem>
</file>

<file path=customXml/itemProps2.xml><?xml version="1.0" encoding="utf-8"?>
<ds:datastoreItem xmlns:ds="http://schemas.openxmlformats.org/officeDocument/2006/customXml" ds:itemID="{70F05F4B-6375-46A2-9EB9-3554091154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1fb09bc-1672-4785-adc5-024c2b626b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03EF818-EDF6-480C-9B86-0A3B979BCCF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Modernes Design</Template>
  <TotalTime>0</TotalTime>
  <Words>158</Words>
  <Application>Microsoft Office PowerPoint</Application>
  <PresentationFormat>Widescreen</PresentationFormat>
  <Paragraphs>61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Tw Cen MT</vt:lpstr>
      <vt:lpstr>Kreis</vt:lpstr>
      <vt:lpstr>Rest-food</vt:lpstr>
      <vt:lpstr>Inhaltsverzeichnis</vt:lpstr>
      <vt:lpstr>Unser Team</vt:lpstr>
      <vt:lpstr>Was wir umgesetzt haben</vt:lpstr>
      <vt:lpstr>Was die WebApplikation alles kann</vt:lpstr>
      <vt:lpstr>Highlights</vt:lpstr>
      <vt:lpstr>demo</vt:lpstr>
      <vt:lpstr>Unser Vorgehen</vt:lpstr>
      <vt:lpstr>Mockups</vt:lpstr>
      <vt:lpstr>Technologie &amp; Architektur</vt:lpstr>
      <vt:lpstr>Systemübersicht</vt:lpstr>
      <vt:lpstr>testing</vt:lpstr>
      <vt:lpstr>Herausforderungen</vt:lpstr>
      <vt:lpstr>Ausblick</vt:lpstr>
      <vt:lpstr>Vielen dank für eure Aufmerksamkeit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Tina Klomp</dc:creator>
  <cp:lastModifiedBy>Fabian Blatter</cp:lastModifiedBy>
  <cp:revision>2</cp:revision>
  <dcterms:created xsi:type="dcterms:W3CDTF">2026-06-10T13:37:40Z</dcterms:created>
  <dcterms:modified xsi:type="dcterms:W3CDTF">2026-06-12T11:48:53Z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0x010100BB1256F8A60DCA4E82C1A51F6CCCD0E2</vt:lpwstr>
  </property>
</Properties>
</file>